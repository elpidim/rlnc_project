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31"/>
  </p:notesMasterIdLst>
  <p:sldIdLst>
    <p:sldId id="266" r:id="rId4"/>
    <p:sldId id="267" r:id="rId5"/>
    <p:sldId id="363" r:id="rId6"/>
    <p:sldId id="268" r:id="rId7"/>
    <p:sldId id="270" r:id="rId8"/>
    <p:sldId id="271" r:id="rId9"/>
    <p:sldId id="364" r:id="rId10"/>
    <p:sldId id="283" r:id="rId11"/>
    <p:sldId id="287" r:id="rId12"/>
    <p:sldId id="286" r:id="rId13"/>
    <p:sldId id="284" r:id="rId14"/>
    <p:sldId id="292" r:id="rId15"/>
    <p:sldId id="298" r:id="rId16"/>
    <p:sldId id="300" r:id="rId17"/>
    <p:sldId id="303" r:id="rId18"/>
    <p:sldId id="293" r:id="rId19"/>
    <p:sldId id="366" r:id="rId20"/>
    <p:sldId id="367" r:id="rId21"/>
    <p:sldId id="368" r:id="rId22"/>
    <p:sldId id="369" r:id="rId23"/>
    <p:sldId id="370" r:id="rId24"/>
    <p:sldId id="365" r:id="rId25"/>
    <p:sldId id="372" r:id="rId26"/>
    <p:sldId id="272" r:id="rId27"/>
    <p:sldId id="281" r:id="rId28"/>
    <p:sldId id="276" r:id="rId29"/>
    <p:sldId id="277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7456" autoAdjust="0"/>
  </p:normalViewPr>
  <p:slideViewPr>
    <p:cSldViewPr snapToGrid="0">
      <p:cViewPr varScale="1">
        <p:scale>
          <a:sx n="61" d="100"/>
          <a:sy n="61" d="100"/>
        </p:scale>
        <p:origin x="106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90D90-8D73-4960-B747-8E2DFC4ADCB1}" type="datetimeFigureOut">
              <a:rPr lang="el-GR" smtClean="0"/>
              <a:t>17/7/2025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133B96-DF28-485F-B185-BE0ED5E2F459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8680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32248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82724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Developed by </a:t>
            </a:r>
            <a:r>
              <a:rPr lang="en-US" sz="1200" dirty="0" err="1"/>
              <a:t>Steinwurf</a:t>
            </a:r>
            <a:r>
              <a:rPr lang="en-US" sz="1200" dirty="0"/>
              <a:t> </a:t>
            </a:r>
            <a:r>
              <a:rPr lang="en-US" sz="1200" dirty="0" err="1"/>
              <a:t>ApS</a:t>
            </a:r>
            <a:endParaRPr lang="en-US" sz="1200" dirty="0"/>
          </a:p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94075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44144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sz="1200" dirty="0"/>
              <a:t>Available under the company’s research license</a:t>
            </a:r>
          </a:p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062204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39750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014673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99887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Generate() for BB mostly</a:t>
            </a:r>
          </a:p>
          <a:p>
            <a:r>
              <a:rPr lang="en-US" dirty="0" err="1"/>
              <a:t>Generate_partial</a:t>
            </a:r>
            <a:r>
              <a:rPr lang="en-US" dirty="0"/>
              <a:t>() for SW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14795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Encode_symbol</a:t>
            </a:r>
            <a:r>
              <a:rPr lang="en-US" dirty="0"/>
              <a:t>(): Following RLNC principles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747188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FS: find first pivot index and eliminate non zero coefficients at previous indexes of a given encoding vector</a:t>
            </a:r>
          </a:p>
          <a:p>
            <a:r>
              <a:rPr lang="en-US" dirty="0"/>
              <a:t>BS: subtract newly received packets from previously stored ones</a:t>
            </a:r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12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5947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13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485570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14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512608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15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607170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16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458545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17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15039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18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707076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200" dirty="0"/>
              <a:t>_</a:t>
            </a:r>
            <a:r>
              <a:rPr lang="en-US" sz="1200" dirty="0" err="1"/>
              <a:t>symbols_data</a:t>
            </a:r>
            <a:r>
              <a:rPr lang="en-US" sz="1200" dirty="0"/>
              <a:t>: stores the received source and coded packets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200" dirty="0"/>
              <a:t>_coefficients: keeps the encoding vectors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200" dirty="0"/>
              <a:t>_</a:t>
            </a:r>
            <a:r>
              <a:rPr lang="en-US" sz="1200" dirty="0" err="1"/>
              <a:t>symbol_status</a:t>
            </a:r>
            <a:r>
              <a:rPr lang="en-US" sz="1200" dirty="0"/>
              <a:t>: info regarding packet status </a:t>
            </a:r>
            <a:r>
              <a:rPr lang="en-US" sz="1200" dirty="0">
                <a:sym typeface="Wingdings" panose="05000000000000000000" pitchFamily="2" charset="2"/>
              </a:rPr>
              <a:t> MISSING, PARTIALLY_DECODED or DECODED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19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507907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20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03419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21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905395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22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933475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23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140506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24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452319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25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077716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26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103106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60685-0BD5-4026-B100-1E9C2C0DA708}" type="slidenum">
              <a:rPr lang="el-GR" smtClean="0"/>
              <a:t>27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0925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36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99000">
              <a:srgbClr val="D0BDFF"/>
            </a:gs>
            <a:gs pos="96000">
              <a:schemeClr val="bg1">
                <a:lumMod val="98000"/>
              </a:schemeClr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7/17/2025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yerasure.steinwurf.com/1.3.0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FBDAA-BDB1-C8D5-D87A-9E8394B8D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625" y="310582"/>
            <a:ext cx="8372684" cy="2296188"/>
          </a:xfrm>
        </p:spPr>
        <p:txBody>
          <a:bodyPr>
            <a:normAutofit/>
          </a:bodyPr>
          <a:lstStyle/>
          <a:p>
            <a:pPr algn="ctr"/>
            <a:r>
              <a:rPr lang="en-US" b="1" dirty="0" err="1"/>
              <a:t>PyErasure</a:t>
            </a:r>
            <a:r>
              <a:rPr lang="en-US" b="1" dirty="0"/>
              <a:t> Tutorial</a:t>
            </a:r>
            <a:endParaRPr lang="el-G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DF6C5-FDDD-E1EB-BCCB-175C251EC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2455" y="4673327"/>
            <a:ext cx="9105024" cy="146182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br>
              <a:rPr lang="en-US" sz="2000" dirty="0"/>
            </a:br>
            <a:endParaRPr lang="el-GR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386E830-3B9E-F501-68E3-7892D1781FD0}"/>
              </a:ext>
            </a:extLst>
          </p:cNvPr>
          <p:cNvSpPr txBox="1">
            <a:spLocks/>
          </p:cNvSpPr>
          <p:nvPr/>
        </p:nvSpPr>
        <p:spPr>
          <a:xfrm>
            <a:off x="3075232" y="3429000"/>
            <a:ext cx="7079470" cy="1620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000" b="1" dirty="0" err="1"/>
              <a:t>Foteini</a:t>
            </a:r>
            <a:r>
              <a:rPr lang="en-US" sz="3000" b="1" dirty="0"/>
              <a:t> </a:t>
            </a:r>
            <a:r>
              <a:rPr lang="en-US" sz="3000" b="1" dirty="0" err="1"/>
              <a:t>Karetsi</a:t>
            </a:r>
            <a:endParaRPr lang="en-US" sz="3000" b="1" dirty="0"/>
          </a:p>
          <a:p>
            <a:pPr algn="ctr"/>
            <a:r>
              <a:rPr lang="en-US" sz="2000"/>
              <a:t>PhD candidate</a:t>
            </a:r>
            <a:endParaRPr lang="en-US" sz="2000" dirty="0"/>
          </a:p>
          <a:p>
            <a:pPr algn="ctr"/>
            <a:r>
              <a:rPr lang="en-US" sz="2000" dirty="0"/>
              <a:t>University of Ioannina, Greece</a:t>
            </a:r>
          </a:p>
          <a:p>
            <a:pPr algn="ctr"/>
            <a:endParaRPr lang="en-US" sz="2000" dirty="0"/>
          </a:p>
        </p:txBody>
      </p:sp>
      <p:pic>
        <p:nvPicPr>
          <p:cNvPr id="6" name="Picture 5" descr="A picture containing qr code&#10;&#10;Description automatically generated">
            <a:extLst>
              <a:ext uri="{FF2B5EF4-FFF2-40B4-BE49-F238E27FC236}">
                <a16:creationId xmlns:a16="http://schemas.microsoft.com/office/drawing/2014/main" id="{B998D579-A8BC-4BC7-A3DE-5365B3598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521" y="5049363"/>
            <a:ext cx="1664088" cy="174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128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993"/>
    </mc:Choice>
    <mc:Fallback xmlns="">
      <p:transition spd="slow" advTm="4299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04925"/>
            <a:ext cx="10550025" cy="83752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Outline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A5C85-8C05-C023-EA65-D7DB9907A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040902"/>
            <a:ext cx="10550025" cy="4463807"/>
          </a:xfrm>
        </p:spPr>
        <p:txBody>
          <a:bodyPr anchor="t"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Introduction to </a:t>
            </a:r>
            <a:r>
              <a:rPr lang="en-US" sz="2400" dirty="0" err="1"/>
              <a:t>PyErasure</a:t>
            </a:r>
            <a:r>
              <a:rPr lang="en-US" sz="2400" dirty="0"/>
              <a:t> library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Installation guide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Module structure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Source code overview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Helper classes analysis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Block-based approach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Sliding Window approach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Working with test examples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Demos walk-through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Building a test scenario step-by-step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sz="2000" dirty="0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9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317"/>
    </mc:Choice>
    <mc:Fallback xmlns="">
      <p:transition spd="slow" advTm="3931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04925"/>
            <a:ext cx="10550025" cy="83752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Outline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A5C85-8C05-C023-EA65-D7DB9907A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040902"/>
            <a:ext cx="10550025" cy="4463807"/>
          </a:xfrm>
        </p:spPr>
        <p:txBody>
          <a:bodyPr anchor="t"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Introduction to </a:t>
            </a:r>
            <a:r>
              <a:rPr lang="en-US" sz="2400" b="1" dirty="0" err="1"/>
              <a:t>PyErasure</a:t>
            </a:r>
            <a:r>
              <a:rPr lang="en-US" sz="2400" b="1" dirty="0"/>
              <a:t> library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Installation guide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Module structure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Source code overview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Helper classes analysis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Block-based approach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Sliding Window approach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Working with test examples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Demos walk-through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Building a test scenario step-by-step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sz="2000" dirty="0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1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317"/>
    </mc:Choice>
    <mc:Fallback xmlns="">
      <p:transition spd="slow" advTm="3931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96410"/>
            <a:ext cx="10550025" cy="74304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What is </a:t>
            </a:r>
            <a:r>
              <a:rPr lang="en-US" sz="4000" b="1" dirty="0" err="1"/>
              <a:t>PyErasure</a:t>
            </a:r>
            <a:r>
              <a:rPr lang="en-US" sz="4000" b="1" dirty="0"/>
              <a:t>?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A5C85-8C05-C023-EA65-D7DB9907A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040902"/>
            <a:ext cx="10458887" cy="4817098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Educational tool to familiarize with FEC techniques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Particularly RLNC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Written in Python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Easy installation and usage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Out of the box encoding and decoding functionalities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132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96410"/>
            <a:ext cx="10550025" cy="743043"/>
          </a:xfrm>
        </p:spPr>
        <p:txBody>
          <a:bodyPr anchor="b">
            <a:noAutofit/>
          </a:bodyPr>
          <a:lstStyle/>
          <a:p>
            <a:r>
              <a:rPr lang="en-US" sz="4000" b="1" dirty="0" err="1"/>
              <a:t>PyErasure</a:t>
            </a:r>
            <a:r>
              <a:rPr lang="en-US" sz="4000" b="1" dirty="0"/>
              <a:t> Setup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A5C85-8C05-C023-EA65-D7DB9907A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040902"/>
            <a:ext cx="10458887" cy="4817098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Prerequisites: Python version 3.7 and above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Extract zip file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In main directory build module using command: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b="1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To run an example: </a:t>
            </a:r>
            <a:r>
              <a:rPr lang="en-US" sz="2400" b="1" dirty="0"/>
              <a:t>python3 path/filename.py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DBBD28A-3D96-9531-98A1-61E8A1F8A323}"/>
              </a:ext>
            </a:extLst>
          </p:cNvPr>
          <p:cNvSpPr/>
          <p:nvPr/>
        </p:nvSpPr>
        <p:spPr>
          <a:xfrm>
            <a:off x="2832818" y="4655461"/>
            <a:ext cx="6400800" cy="11061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python3 –m pip install .</a:t>
            </a:r>
          </a:p>
        </p:txBody>
      </p:sp>
    </p:spTree>
    <p:extLst>
      <p:ext uri="{BB962C8B-B14F-4D97-AF65-F5344CB8AC3E}">
        <p14:creationId xmlns:p14="http://schemas.microsoft.com/office/powerpoint/2010/main" val="2421867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96410"/>
            <a:ext cx="10550025" cy="74304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Module Structure &amp; Extension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A5C85-8C05-C023-EA65-D7DB9907A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6" y="2040902"/>
            <a:ext cx="7385370" cy="4817098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b="1" dirty="0" err="1"/>
              <a:t>src</a:t>
            </a:r>
            <a:r>
              <a:rPr lang="en-US" sz="2400" b="1" dirty="0"/>
              <a:t>/</a:t>
            </a:r>
            <a:r>
              <a:rPr lang="en-US" sz="2400" b="1" dirty="0" err="1"/>
              <a:t>pyerasure</a:t>
            </a:r>
            <a:r>
              <a:rPr lang="en-US" sz="2400" dirty="0"/>
              <a:t>: Contains library’s source code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i="1" dirty="0"/>
              <a:t>block:</a:t>
            </a:r>
            <a:r>
              <a:rPr lang="en-US" sz="2000" dirty="0"/>
              <a:t> includes the block-based RLNC implementation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i="1" dirty="0" err="1"/>
              <a:t>sw</a:t>
            </a:r>
            <a:r>
              <a:rPr lang="en-US" sz="2000" i="1" dirty="0"/>
              <a:t>: </a:t>
            </a:r>
            <a:r>
              <a:rPr lang="en-US" sz="2000" dirty="0"/>
              <a:t>refers to sliding window RLNC implementation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0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b="1" dirty="0"/>
              <a:t>examples</a:t>
            </a:r>
            <a:r>
              <a:rPr lang="en-US" sz="2400" dirty="0"/>
              <a:t>: Contains test scripts for both block-based and SW implementations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0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Changes in source code require compiling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Using command </a:t>
            </a:r>
            <a:r>
              <a:rPr lang="en-US" sz="2000" b="1" dirty="0"/>
              <a:t>python3 –m pip install 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0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Build source code after every modification </a:t>
            </a:r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312991-50CE-4BAE-9D24-4B88643CF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146" y="1839453"/>
            <a:ext cx="3448050" cy="463867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2A1DA87-6B0B-4837-818D-C1CB5A195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3706" y="1926159"/>
            <a:ext cx="1446811" cy="1439391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0D6CA0B-5E80-4A06-8332-545FD52AA474}"/>
              </a:ext>
            </a:extLst>
          </p:cNvPr>
          <p:cNvCxnSpPr/>
          <p:nvPr/>
        </p:nvCxnSpPr>
        <p:spPr>
          <a:xfrm>
            <a:off x="9200561" y="2645855"/>
            <a:ext cx="80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Left Brace 35">
            <a:extLst>
              <a:ext uri="{FF2B5EF4-FFF2-40B4-BE49-F238E27FC236}">
                <a16:creationId xmlns:a16="http://schemas.microsoft.com/office/drawing/2014/main" id="{25D501DA-FEAC-454D-A663-E46ED1845F73}"/>
              </a:ext>
            </a:extLst>
          </p:cNvPr>
          <p:cNvSpPr/>
          <p:nvPr/>
        </p:nvSpPr>
        <p:spPr>
          <a:xfrm>
            <a:off x="10095992" y="1983947"/>
            <a:ext cx="127714" cy="132381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3898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04925"/>
            <a:ext cx="10550025" cy="83752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Outline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A5C85-8C05-C023-EA65-D7DB9907A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040902"/>
            <a:ext cx="10550025" cy="4463807"/>
          </a:xfrm>
        </p:spPr>
        <p:txBody>
          <a:bodyPr anchor="t"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Introduction to </a:t>
            </a:r>
            <a:r>
              <a:rPr lang="en-US" sz="2400" dirty="0" err="1"/>
              <a:t>PyErasure</a:t>
            </a:r>
            <a:r>
              <a:rPr lang="en-US" sz="2400" dirty="0"/>
              <a:t> library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Installation guide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Module structure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Source code overview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Helper classes analysis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Block-based approach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Sliding Window approach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Working with test examples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Demos walk-through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Building a test scenario step-by-step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sz="2000" dirty="0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73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317"/>
    </mc:Choice>
    <mc:Fallback xmlns="">
      <p:transition spd="slow" advTm="3931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96410"/>
            <a:ext cx="10550025" cy="74304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Source Code Overview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A5C85-8C05-C023-EA65-D7DB9907A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040902"/>
            <a:ext cx="10458887" cy="4675208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API including the following classes: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200" dirty="0"/>
              <a:t>Encoder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200" dirty="0"/>
              <a:t>Decoder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200" dirty="0" err="1"/>
              <a:t>RandomUniform</a:t>
            </a:r>
            <a:endParaRPr lang="en-US" sz="22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200" dirty="0"/>
              <a:t>Finite Field submodule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Common structure in both block-based and sliding window implementations </a:t>
            </a:r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73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96410"/>
            <a:ext cx="10550025" cy="74304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Finite Field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A5C85-8C05-C023-EA65-D7DB9907A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040902"/>
            <a:ext cx="10458887" cy="4675208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Implements math operations between field elements (e.g., +, - , *)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200" dirty="0"/>
              <a:t>Using predefined look-up tables for multiplication and division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Several finite field classes available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200" dirty="0"/>
              <a:t>class Binary </a:t>
            </a:r>
            <a:r>
              <a:rPr lang="en-US" sz="2200" dirty="0">
                <a:sym typeface="Wingdings" panose="05000000000000000000" pitchFamily="2" charset="2"/>
              </a:rPr>
              <a:t></a:t>
            </a:r>
            <a:r>
              <a:rPr lang="en-US" sz="2200" dirty="0"/>
              <a:t> GF(2)  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200" dirty="0"/>
              <a:t>class Binary4 </a:t>
            </a:r>
            <a:r>
              <a:rPr lang="en-US" sz="2200" dirty="0">
                <a:sym typeface="Wingdings" panose="05000000000000000000" pitchFamily="2" charset="2"/>
              </a:rPr>
              <a:t></a:t>
            </a:r>
            <a:r>
              <a:rPr lang="en-US" sz="2200" dirty="0"/>
              <a:t> GF(2</a:t>
            </a:r>
            <a:r>
              <a:rPr lang="en-US" sz="2200" baseline="30000" dirty="0"/>
              <a:t>4</a:t>
            </a:r>
            <a:r>
              <a:rPr lang="en-US" sz="2200" dirty="0"/>
              <a:t>)  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200" dirty="0"/>
              <a:t>class Binary8 </a:t>
            </a:r>
            <a:r>
              <a:rPr lang="en-US" sz="2200" dirty="0">
                <a:sym typeface="Wingdings" panose="05000000000000000000" pitchFamily="2" charset="2"/>
              </a:rPr>
              <a:t></a:t>
            </a:r>
            <a:r>
              <a:rPr lang="en-US" sz="2200" dirty="0"/>
              <a:t> GF(2</a:t>
            </a:r>
            <a:r>
              <a:rPr lang="en-US" sz="2200" baseline="30000" dirty="0"/>
              <a:t>8</a:t>
            </a:r>
            <a:r>
              <a:rPr lang="en-US" sz="2200" dirty="0"/>
              <a:t>)   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900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96410"/>
            <a:ext cx="10550025" cy="74304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Class </a:t>
            </a:r>
            <a:r>
              <a:rPr lang="en-US" sz="4000" b="1" dirty="0" err="1"/>
              <a:t>RandomUniform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A5C85-8C05-C023-EA65-D7DB9907A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040902"/>
            <a:ext cx="10458887" cy="4675208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Generates uniform random coefficients for the encoding vector over a given GF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u="sng" dirty="0"/>
              <a:t>Input</a:t>
            </a:r>
            <a:r>
              <a:rPr lang="en-US" sz="2400" dirty="0"/>
              <a:t>: finite field, symbols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Field: </a:t>
            </a:r>
            <a:r>
              <a:rPr lang="en-US" sz="2000" dirty="0" err="1"/>
              <a:t>BinaryX</a:t>
            </a:r>
            <a:r>
              <a:rPr lang="en-US" sz="2000" dirty="0"/>
              <a:t> object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Symbols: The number of coefficients to generate (int)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 </a:t>
            </a:r>
            <a:r>
              <a:rPr lang="en-US" sz="2400" u="sng" dirty="0"/>
              <a:t>Main Methods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generate() </a:t>
            </a:r>
            <a:r>
              <a:rPr lang="en-US" sz="2400" dirty="0">
                <a:sym typeface="Wingdings" panose="05000000000000000000" pitchFamily="2" charset="2"/>
              </a:rPr>
              <a:t> bytes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sym typeface="Wingdings" panose="05000000000000000000" pitchFamily="2" charset="2"/>
              </a:rPr>
              <a:t>generate_partial</a:t>
            </a:r>
            <a:r>
              <a:rPr lang="en-US" sz="2400" dirty="0">
                <a:sym typeface="Wingdings" panose="05000000000000000000" pitchFamily="2" charset="2"/>
              </a:rPr>
              <a:t>(rank: int)  bytes</a:t>
            </a: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386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96410"/>
            <a:ext cx="10550025" cy="74304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Class Encoder (Block-based)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D5F4F2B-CABB-4FF7-B9EA-4CB72AFB4E21}"/>
              </a:ext>
            </a:extLst>
          </p:cNvPr>
          <p:cNvSpPr txBox="1">
            <a:spLocks/>
          </p:cNvSpPr>
          <p:nvPr/>
        </p:nvSpPr>
        <p:spPr>
          <a:xfrm>
            <a:off x="803774" y="2011122"/>
            <a:ext cx="10712164" cy="46752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Provides main API for reading source packets and RLNC encoding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u="sng" dirty="0"/>
              <a:t>Input</a:t>
            </a:r>
            <a:r>
              <a:rPr lang="en-US" sz="2400" dirty="0"/>
              <a:t>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Field: </a:t>
            </a:r>
            <a:r>
              <a:rPr lang="en-US" sz="2000" dirty="0" err="1"/>
              <a:t>BinaryX</a:t>
            </a:r>
            <a:r>
              <a:rPr lang="en-US" sz="2000" dirty="0"/>
              <a:t> object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Symbols: Block (or generation) size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 err="1"/>
              <a:t>Symbol_bytes</a:t>
            </a:r>
            <a:r>
              <a:rPr lang="en-US" sz="2000" dirty="0"/>
              <a:t>: Size of a packet (in bytes)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 </a:t>
            </a:r>
            <a:r>
              <a:rPr lang="en-US" sz="2400" u="sng" dirty="0"/>
              <a:t>Main methods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 err="1"/>
              <a:t>set_symbols</a:t>
            </a:r>
            <a:r>
              <a:rPr lang="en-US" sz="2000" dirty="0"/>
              <a:t>(</a:t>
            </a:r>
            <a:r>
              <a:rPr lang="en-US" sz="2000" dirty="0" err="1"/>
              <a:t>block_data</a:t>
            </a:r>
            <a:r>
              <a:rPr lang="en-US" sz="2000" dirty="0"/>
              <a:t>: bytes): stores the whole block of data (@ _</a:t>
            </a:r>
            <a:r>
              <a:rPr lang="en-US" sz="2000" dirty="0" err="1"/>
              <a:t>symbols_data</a:t>
            </a:r>
            <a:r>
              <a:rPr lang="en-US" sz="2000" dirty="0"/>
              <a:t> buffer)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 err="1"/>
              <a:t>set_symbol</a:t>
            </a:r>
            <a:r>
              <a:rPr lang="en-US" sz="2000" dirty="0"/>
              <a:t>(index: int, </a:t>
            </a:r>
            <a:r>
              <a:rPr lang="en-US" sz="2000" dirty="0" err="1"/>
              <a:t>symbol_data</a:t>
            </a:r>
            <a:r>
              <a:rPr lang="en-US" sz="2000" dirty="0"/>
              <a:t>: bytes): sets a packet at specific index of block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 err="1"/>
              <a:t>encode_symbol</a:t>
            </a:r>
            <a:r>
              <a:rPr lang="en-US" sz="2000" dirty="0"/>
              <a:t>(coefficients: bytes)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 err="1">
                <a:sym typeface="Wingdings" panose="05000000000000000000" pitchFamily="2" charset="2"/>
              </a:rPr>
              <a:t>bytearray</a:t>
            </a:r>
            <a:r>
              <a:rPr lang="en-US" sz="2000" dirty="0">
                <a:sym typeface="Wingdings" panose="05000000000000000000" pitchFamily="2" charset="2"/>
              </a:rPr>
              <a:t>: generates a coded packet</a:t>
            </a:r>
            <a:endParaRPr lang="en-US" sz="2000" dirty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920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96410"/>
            <a:ext cx="10550025" cy="74304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Class Decoder (Block-based)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F7184F7-0444-44B9-8977-5500F3FAEB7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27938" y="1882694"/>
            <a:ext cx="10712663" cy="45843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Implements Gaussian elimination over a block of packets using the algorithm of Heide et al. (2009)</a:t>
            </a:r>
            <a:r>
              <a:rPr lang="en-US" sz="2400" baseline="30000" dirty="0"/>
              <a:t>[1]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Forward Substitution (FS)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Backward Substitution (BS)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Same input parameters as BB Encoder: </a:t>
            </a:r>
            <a:r>
              <a:rPr lang="en-US" sz="2400" b="1" dirty="0"/>
              <a:t>field</a:t>
            </a:r>
            <a:r>
              <a:rPr lang="en-US" sz="2400" dirty="0"/>
              <a:t>, </a:t>
            </a:r>
            <a:r>
              <a:rPr lang="en-US" sz="2400" b="1" dirty="0"/>
              <a:t>symbols</a:t>
            </a:r>
            <a:r>
              <a:rPr lang="en-US" sz="2400" dirty="0"/>
              <a:t> (block size) and </a:t>
            </a:r>
            <a:r>
              <a:rPr lang="en-US" sz="2400" b="1" dirty="0" err="1"/>
              <a:t>symbol_bytes</a:t>
            </a:r>
            <a:r>
              <a:rPr lang="en-US" sz="2400" b="1" dirty="0"/>
              <a:t> </a:t>
            </a:r>
            <a:r>
              <a:rPr lang="en-US" sz="2400" dirty="0"/>
              <a:t>(packet size)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  </a:t>
            </a:r>
            <a:r>
              <a:rPr lang="en-US" sz="2400" u="sng" dirty="0"/>
              <a:t>Main data structures</a:t>
            </a:r>
            <a:r>
              <a:rPr lang="en-US" sz="2400" dirty="0"/>
              <a:t> 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_</a:t>
            </a:r>
            <a:r>
              <a:rPr lang="en-US" sz="2000" dirty="0" err="1"/>
              <a:t>symbols_data</a:t>
            </a:r>
            <a:r>
              <a:rPr lang="en-US" sz="2000" dirty="0"/>
              <a:t>: stores the received source and coded packets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_coefficients: keeps the encoding vectors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_</a:t>
            </a:r>
            <a:r>
              <a:rPr lang="en-US" sz="2000" dirty="0" err="1"/>
              <a:t>symbol_status</a:t>
            </a:r>
            <a:r>
              <a:rPr lang="en-US" sz="2000" dirty="0"/>
              <a:t>: info regarding packet status </a:t>
            </a:r>
            <a:r>
              <a:rPr lang="en-US" sz="2000" dirty="0">
                <a:sym typeface="Wingdings" panose="05000000000000000000" pitchFamily="2" charset="2"/>
              </a:rPr>
              <a:t> MISSING, PARTIALLY_DECODED or DECODED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C09B58-790D-4AF3-8631-4D00E6C43FBA}"/>
              </a:ext>
            </a:extLst>
          </p:cNvPr>
          <p:cNvSpPr txBox="1"/>
          <p:nvPr/>
        </p:nvSpPr>
        <p:spPr>
          <a:xfrm>
            <a:off x="827938" y="6137956"/>
            <a:ext cx="107126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[1] J. Heide, M. V. Pedersen, F. H. P. Fitzek and T. Larsen, "Network Coding </a:t>
            </a:r>
            <a:r>
              <a:rPr lang="de-DE" sz="14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sz="1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Mobile Devices - </a:t>
            </a:r>
            <a:r>
              <a:rPr lang="de-DE" sz="14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Systematic</a:t>
            </a:r>
            <a:r>
              <a:rPr lang="de-DE" sz="1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Binary Random </a:t>
            </a:r>
            <a:r>
              <a:rPr lang="de-DE" sz="14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Rateless</a:t>
            </a:r>
            <a:r>
              <a:rPr lang="de-DE" sz="1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Codes," </a:t>
            </a:r>
            <a:r>
              <a:rPr lang="de-DE" sz="1400" b="0" i="1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2009 IEEE International Conference on Communications Workshops</a:t>
            </a:r>
            <a:r>
              <a:rPr lang="de-DE" sz="1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Dresden, Germany, 2009, pp. 1-6, </a:t>
            </a:r>
            <a:r>
              <a:rPr lang="de-DE" sz="14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de-DE" sz="14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10.1109/ICCW.2009.5208076.</a:t>
            </a:r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732D66-704F-4D44-8517-1CDF3A0A23BA}"/>
              </a:ext>
            </a:extLst>
          </p:cNvPr>
          <p:cNvSpPr txBox="1"/>
          <p:nvPr/>
        </p:nvSpPr>
        <p:spPr>
          <a:xfrm>
            <a:off x="6022905" y="2762887"/>
            <a:ext cx="51845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Properly adjusted to higher GF sizes!</a:t>
            </a:r>
            <a:endParaRPr lang="de-DE" sz="220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E7A5A95-22C1-44C6-8836-485DD9FC0BF0}"/>
              </a:ext>
            </a:extLst>
          </p:cNvPr>
          <p:cNvSpPr/>
          <p:nvPr/>
        </p:nvSpPr>
        <p:spPr>
          <a:xfrm>
            <a:off x="5140403" y="2857064"/>
            <a:ext cx="857839" cy="2766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5586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96410"/>
            <a:ext cx="10550025" cy="74304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BB Decoder – Main Methods (1/2)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F7184F7-0444-44B9-8977-5500F3FAEB7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27938" y="1882694"/>
            <a:ext cx="10712663" cy="45843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/>
              <a:t>decode_symbol</a:t>
            </a:r>
            <a:r>
              <a:rPr lang="en-US" sz="2400" dirty="0"/>
              <a:t>(</a:t>
            </a:r>
            <a:r>
              <a:rPr lang="en-US" sz="2400" dirty="0" err="1"/>
              <a:t>symbol_data</a:t>
            </a:r>
            <a:r>
              <a:rPr lang="en-US" sz="2400" dirty="0"/>
              <a:t>: </a:t>
            </a:r>
            <a:r>
              <a:rPr lang="en-US" sz="2400" dirty="0" err="1"/>
              <a:t>bytearray</a:t>
            </a:r>
            <a:r>
              <a:rPr lang="en-US" sz="2400" dirty="0"/>
              <a:t>, coefficients: </a:t>
            </a:r>
            <a:r>
              <a:rPr lang="en-US" sz="2400" dirty="0" err="1"/>
              <a:t>bytearray</a:t>
            </a:r>
            <a:r>
              <a:rPr lang="en-US" sz="2400" dirty="0"/>
              <a:t>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Feeds a </a:t>
            </a:r>
            <a:r>
              <a:rPr lang="en-US" sz="2400" b="1" dirty="0"/>
              <a:t>coded</a:t>
            </a:r>
            <a:r>
              <a:rPr lang="en-US" sz="2400" dirty="0"/>
              <a:t> packet (</a:t>
            </a:r>
            <a:r>
              <a:rPr lang="en-US" sz="2400" dirty="0" err="1"/>
              <a:t>symbol_data</a:t>
            </a:r>
            <a:r>
              <a:rPr lang="en-US" sz="2400" dirty="0"/>
              <a:t>) and its encoding vector (coefficients) to the decoder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Applies FS, BS and for larger GF sizes appropriate normalization </a:t>
            </a:r>
            <a:r>
              <a:rPr lang="en-US" sz="2400" dirty="0" err="1"/>
              <a:t>func</a:t>
            </a:r>
            <a:endParaRPr lang="en-US" sz="24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FS and BS implemented as private functions; FS split into two functions (coding convention) </a:t>
            </a:r>
            <a:r>
              <a:rPr lang="en-US" sz="2000" dirty="0">
                <a:sym typeface="Wingdings" panose="05000000000000000000" pitchFamily="2" charset="2"/>
              </a:rPr>
              <a:t> Functionality remains the same!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000" dirty="0"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ym typeface="Wingdings" panose="05000000000000000000" pitchFamily="2" charset="2"/>
              </a:rPr>
              <a:t>If coded packet useful: store packet and enc. vector at the decoder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ym typeface="Wingdings" panose="05000000000000000000" pitchFamily="2" charset="2"/>
              </a:rPr>
              <a:t>Recovered packets (through coding) not available until the reception of the whole block (status PARTIALLY DECODED)</a:t>
            </a:r>
            <a:endParaRPr lang="en-US" sz="20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32476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96410"/>
            <a:ext cx="10550025" cy="74304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BB Decoder – Main Methods (2/2)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F7184F7-0444-44B9-8977-5500F3FAEB7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27938" y="1882694"/>
            <a:ext cx="10712663" cy="48480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/>
              <a:t>decode_systematic_symbol</a:t>
            </a:r>
            <a:r>
              <a:rPr lang="en-US" sz="2400" dirty="0"/>
              <a:t>(</a:t>
            </a:r>
            <a:r>
              <a:rPr lang="en-US" sz="2400" dirty="0" err="1"/>
              <a:t>symbol_data</a:t>
            </a:r>
            <a:r>
              <a:rPr lang="en-US" sz="2400" dirty="0"/>
              <a:t>: </a:t>
            </a:r>
            <a:r>
              <a:rPr lang="en-US" sz="2400" dirty="0" err="1"/>
              <a:t>bytearray</a:t>
            </a:r>
            <a:r>
              <a:rPr lang="en-US" sz="2400" dirty="0"/>
              <a:t>, index: int)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 err="1"/>
              <a:t>Func</a:t>
            </a:r>
            <a:r>
              <a:rPr lang="en-US" sz="2400" dirty="0"/>
              <a:t> to process a source (systematic) packet (</a:t>
            </a:r>
            <a:r>
              <a:rPr lang="en-US" sz="2400" dirty="0" err="1"/>
              <a:t>symbol_data</a:t>
            </a:r>
            <a:r>
              <a:rPr lang="en-US" sz="2400" dirty="0"/>
              <a:t>) of a given id (index) at the decoder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Assumes id = index of the packet in _</a:t>
            </a:r>
            <a:r>
              <a:rPr lang="en-US" sz="2400" dirty="0" err="1"/>
              <a:t>symbols_data</a:t>
            </a:r>
            <a:r>
              <a:rPr lang="en-US" sz="2400" dirty="0"/>
              <a:t> buffer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Buffer index starts from 0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Convention: Source packet always preferred against coded as pivot for specific index </a:t>
            </a:r>
            <a:endParaRPr lang="en-US" sz="2400" dirty="0">
              <a:sym typeface="Wingdings" panose="05000000000000000000" pitchFamily="2" charset="2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ym typeface="Wingdings" panose="05000000000000000000" pitchFamily="2" charset="2"/>
              </a:rPr>
              <a:t>Replaces coded pivot if existing (with __</a:t>
            </a:r>
            <a:r>
              <a:rPr lang="en-US" sz="2000" dirty="0" err="1">
                <a:sym typeface="Wingdings" panose="05000000000000000000" pitchFamily="2" charset="2"/>
              </a:rPr>
              <a:t>swap_decode</a:t>
            </a:r>
            <a:r>
              <a:rPr lang="en-US" sz="2000" dirty="0">
                <a:sym typeface="Wingdings" panose="05000000000000000000" pitchFamily="2" charset="2"/>
              </a:rPr>
              <a:t>())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ym typeface="Wingdings" panose="05000000000000000000" pitchFamily="2" charset="2"/>
              </a:rPr>
              <a:t>Due to computational overhead</a:t>
            </a:r>
            <a:endParaRPr lang="en-US" sz="20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If received in-order, packet can be delivered immediately to the application </a:t>
            </a:r>
            <a:r>
              <a:rPr lang="en-US" sz="2400" dirty="0">
                <a:sym typeface="Wingdings" panose="05000000000000000000" pitchFamily="2" charset="2"/>
              </a:rPr>
              <a:t>(status DECODED)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77251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96410"/>
            <a:ext cx="10550025" cy="74304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Sliding Window RLNC Fundamentals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884B99-D62C-E81F-041E-F4748FDC8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453" y="2049956"/>
            <a:ext cx="5567175" cy="22952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664ED71-C806-F90E-9766-A9702760B5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4824" y="2049754"/>
                <a:ext cx="5707763" cy="2877657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Two major coding parameters: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en-US" b="1" dirty="0"/>
                  <a:t>Code Rate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2">
                  <a:buFont typeface="Wingdings" panose="05000000000000000000" pitchFamily="2" charset="2"/>
                  <a:buChar char="q"/>
                </a:pPr>
                <a:r>
                  <a:rPr lang="en-US" dirty="0"/>
                  <a:t> k→ number of native pkts,</a:t>
                </a:r>
                <a:r>
                  <a:rPr lang="en-US" dirty="0">
                    <a:latin typeface="Book Antiqua" panose="02040602050305030304" pitchFamily="18" charset="0"/>
                  </a:rPr>
                  <a:t> </a:t>
                </a:r>
                <a:r>
                  <a:rPr lang="en-US" dirty="0" err="1">
                    <a:latin typeface="Book Antiqua" panose="02040602050305030304" pitchFamily="18" charset="0"/>
                  </a:rPr>
                  <a:t>k+r</a:t>
                </a:r>
                <a:r>
                  <a:rPr lang="en-US" dirty="0"/>
                  <a:t> → number of coded (or coded and native) pkts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en-US" b="1" dirty="0"/>
                  <a:t>Coding Window Size</a:t>
                </a:r>
                <a:r>
                  <a:rPr lang="en-US" dirty="0"/>
                  <a:t> (W)</a:t>
                </a:r>
              </a:p>
              <a:p>
                <a:pPr lvl="2">
                  <a:buFont typeface="Wingdings" panose="05000000000000000000" pitchFamily="2" charset="2"/>
                  <a:buChar char="q"/>
                </a:pPr>
                <a:r>
                  <a:rPr lang="en-US" dirty="0"/>
                  <a:t> The size of the packet pool used to produce coded packets 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664ED71-C806-F90E-9766-A9702760B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24" y="2049754"/>
                <a:ext cx="5707763" cy="2877657"/>
              </a:xfrm>
              <a:prstGeom prst="rect">
                <a:avLst/>
              </a:prstGeom>
              <a:blipFill>
                <a:blip r:embed="rId4"/>
                <a:stretch>
                  <a:fillRect l="-1496" t="-1334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B4425B-7DEA-7B9D-55E4-B54DC5ABF076}"/>
              </a:ext>
            </a:extLst>
          </p:cNvPr>
          <p:cNvSpPr txBox="1">
            <a:spLocks/>
          </p:cNvSpPr>
          <p:nvPr/>
        </p:nvSpPr>
        <p:spPr>
          <a:xfrm>
            <a:off x="8103569" y="4441051"/>
            <a:ext cx="2496398" cy="3400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Systematic SW RLNC</a:t>
            </a:r>
            <a:endParaRPr lang="en-US" sz="1800" i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F91B843D-64EC-44B7-B0CC-C83BCE51CC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0987" y="4876966"/>
                <a:ext cx="10550025" cy="1148420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We leverage the abstraction of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coding depth (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d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) </a:t>
                </a:r>
                <a:r>
                  <a:rPr lang="en-US" sz="2400" dirty="0">
                    <a:solidFill>
                      <a:schemeClr val="tx1"/>
                    </a:solidFill>
                  </a:rPr>
                  <a:t>to determine W</a:t>
                </a:r>
                <a:r>
                  <a:rPr lang="en-US" sz="2400" baseline="30000" dirty="0">
                    <a:solidFill>
                      <a:schemeClr val="tx1"/>
                    </a:solidFill>
                  </a:rPr>
                  <a:t>[2]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2400" dirty="0"/>
                  <a:t> Then: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sz="2400" b="1" dirty="0"/>
              </a:p>
              <a:p>
                <a:pPr lvl="1">
                  <a:buFont typeface="Wingdings" panose="05000000000000000000" pitchFamily="2" charset="2"/>
                  <a:buChar char="q"/>
                </a:pPr>
                <a:r>
                  <a:rPr lang="en-US" sz="2200" i="1" dirty="0"/>
                  <a:t>d </a:t>
                </a:r>
                <a:r>
                  <a:rPr lang="en-US" sz="2200" dirty="0"/>
                  <a:t>expresses the number of source packets “covered” by a coded one</a:t>
                </a:r>
              </a:p>
              <a:p>
                <a:pPr marL="457200" lvl="1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F91B843D-64EC-44B7-B0CC-C83BCE51C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87" y="4876966"/>
                <a:ext cx="10550025" cy="1148420"/>
              </a:xfrm>
              <a:prstGeom prst="rect">
                <a:avLst/>
              </a:prstGeom>
              <a:blipFill>
                <a:blip r:embed="rId5"/>
                <a:stretch>
                  <a:fillRect l="-809" t="-10106" b="-106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7C9099F-D016-4490-BE1F-AF19A819ACDE}"/>
              </a:ext>
            </a:extLst>
          </p:cNvPr>
          <p:cNvSpPr txBox="1"/>
          <p:nvPr/>
        </p:nvSpPr>
        <p:spPr>
          <a:xfrm>
            <a:off x="784824" y="6015890"/>
            <a:ext cx="109385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[2] Karetsi, Foteini, and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Evangelos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4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Papapetrou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"A low complexity network-coded ARQ protocol for ultra-reliable low latency communication." 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2021 IEEE 22nd International Symposium on a World of Wireless, Mobile and Multimedia Networks (</a:t>
            </a:r>
            <a:r>
              <a:rPr lang="en-US" sz="14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WoWMoM</a:t>
            </a:r>
            <a:r>
              <a:rPr lang="en-US" sz="14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IEEE, 2021.</a:t>
            </a:r>
            <a:endParaRPr lang="el-GR" sz="1400" dirty="0"/>
          </a:p>
        </p:txBody>
      </p:sp>
    </p:spTree>
    <p:extLst>
      <p:ext uri="{BB962C8B-B14F-4D97-AF65-F5344CB8AC3E}">
        <p14:creationId xmlns:p14="http://schemas.microsoft.com/office/powerpoint/2010/main" val="2574591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96410"/>
            <a:ext cx="10550025" cy="74304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Class Encoder (SW) (1/3)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3D04BB3-A0E8-4549-9BD0-69774900FEE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28186" y="1839453"/>
            <a:ext cx="10460038" cy="46650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API for reading source packets, performing SW RLNC encoding and updating coding window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Definition incorporates the coding parameters discussed earlier</a:t>
            </a:r>
            <a:endParaRPr lang="en-US" sz="20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 err="1"/>
              <a:t>source_per_cycle</a:t>
            </a:r>
            <a:r>
              <a:rPr lang="en-US" sz="2000" dirty="0"/>
              <a:t> (k)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 err="1"/>
              <a:t>repair_per_cycle</a:t>
            </a:r>
            <a:r>
              <a:rPr lang="en-US" sz="2000" dirty="0"/>
              <a:t> (r)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 err="1"/>
              <a:t>coding_depth</a:t>
            </a:r>
            <a:r>
              <a:rPr lang="en-US" sz="2000" dirty="0"/>
              <a:t> (d)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Additional input: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Field: </a:t>
            </a:r>
            <a:r>
              <a:rPr lang="en-US" sz="2000" dirty="0" err="1"/>
              <a:t>BinaryX</a:t>
            </a:r>
            <a:r>
              <a:rPr lang="en-US" sz="2000" dirty="0"/>
              <a:t> object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Packets: Total number of transmitted packets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 err="1"/>
              <a:t>Packet_size_bytes</a:t>
            </a:r>
            <a:r>
              <a:rPr lang="en-US" sz="2000" dirty="0"/>
              <a:t>: Size of a packet (in bytes)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FE514E-9868-45E7-9FAE-0C2C6F1AE3A7}"/>
              </a:ext>
            </a:extLst>
          </p:cNvPr>
          <p:cNvSpPr/>
          <p:nvPr/>
        </p:nvSpPr>
        <p:spPr>
          <a:xfrm>
            <a:off x="4967940" y="3429000"/>
            <a:ext cx="5889321" cy="575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Hence: W = </a:t>
            </a:r>
            <a:r>
              <a:rPr lang="en-US" b="1" dirty="0" err="1"/>
              <a:t>source_per_cycle</a:t>
            </a:r>
            <a:r>
              <a:rPr lang="en-US" b="1" dirty="0"/>
              <a:t> * </a:t>
            </a:r>
            <a:r>
              <a:rPr lang="en-US" b="1" dirty="0" err="1"/>
              <a:t>coding_depth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49415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96410"/>
            <a:ext cx="10550025" cy="74304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Class Encoder (SW) (2/3)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3D04BB3-A0E8-4549-9BD0-69774900FEE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28186" y="1839453"/>
            <a:ext cx="10460038" cy="46650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</a:t>
            </a:r>
            <a:r>
              <a:rPr lang="en-US" sz="2400" u="sng" dirty="0"/>
              <a:t>Main methods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 err="1"/>
              <a:t>set_packets</a:t>
            </a:r>
            <a:r>
              <a:rPr lang="en-US" sz="2400" dirty="0"/>
              <a:t>(</a:t>
            </a:r>
            <a:r>
              <a:rPr lang="en-US" sz="2400" dirty="0" err="1"/>
              <a:t>block_data</a:t>
            </a:r>
            <a:r>
              <a:rPr lang="en-US" sz="2400" dirty="0"/>
              <a:t>: bytes): reads and stores the total number of packets to be transmitted (_</a:t>
            </a:r>
            <a:r>
              <a:rPr lang="en-US" sz="2400" dirty="0" err="1"/>
              <a:t>packets_data</a:t>
            </a:r>
            <a:r>
              <a:rPr lang="en-US" sz="2400" dirty="0"/>
              <a:t> buffer)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 err="1"/>
              <a:t>set_packet</a:t>
            </a:r>
            <a:r>
              <a:rPr lang="en-US" sz="2400" dirty="0"/>
              <a:t>(index: int, </a:t>
            </a:r>
            <a:r>
              <a:rPr lang="en-US" sz="2400" dirty="0" err="1"/>
              <a:t>packet_data</a:t>
            </a:r>
            <a:r>
              <a:rPr lang="en-US" sz="2400" dirty="0"/>
              <a:t>: bytes): reads and stores a single packet on the buffer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 err="1"/>
              <a:t>encode_packet</a:t>
            </a:r>
            <a:r>
              <a:rPr lang="en-US" sz="2400" dirty="0"/>
              <a:t>(coefficients: bytes)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 err="1">
                <a:sym typeface="Wingdings" panose="05000000000000000000" pitchFamily="2" charset="2"/>
              </a:rPr>
              <a:t>bytearray</a:t>
            </a:r>
            <a:r>
              <a:rPr lang="en-US" sz="2400" dirty="0">
                <a:sym typeface="Wingdings" panose="05000000000000000000" pitchFamily="2" charset="2"/>
              </a:rPr>
              <a:t>: generates a coded packet </a:t>
            </a:r>
            <a:r>
              <a:rPr lang="en-US" sz="24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49104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96410"/>
            <a:ext cx="10550025" cy="74304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Class Encoder (SW) (3/3)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3D04BB3-A0E8-4549-9BD0-69774900FEE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80586" y="4930557"/>
            <a:ext cx="10323178" cy="16861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Pointers updated using </a:t>
            </a:r>
            <a:r>
              <a:rPr lang="en-US" sz="2400" dirty="0" err="1"/>
              <a:t>update_coding_window</a:t>
            </a:r>
            <a:r>
              <a:rPr lang="en-US" sz="2400" dirty="0"/>
              <a:t>(index: int)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Every new source always placed at the end of the window (</a:t>
            </a:r>
            <a:r>
              <a:rPr lang="en-US" sz="2000" dirty="0" err="1"/>
              <a:t>coding_window_end</a:t>
            </a:r>
            <a:r>
              <a:rPr lang="en-US" sz="2000" dirty="0"/>
              <a:t> ++)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If window full: “slide” active window (</a:t>
            </a:r>
            <a:r>
              <a:rPr lang="en-US" sz="2000" dirty="0" err="1"/>
              <a:t>coding_window_start</a:t>
            </a:r>
            <a:r>
              <a:rPr lang="en-US" sz="2000" dirty="0"/>
              <a:t> ++, </a:t>
            </a:r>
            <a:r>
              <a:rPr lang="en-US" sz="2000" dirty="0" err="1"/>
              <a:t>coding_window_end</a:t>
            </a:r>
            <a:r>
              <a:rPr lang="en-US" sz="2000" dirty="0"/>
              <a:t> ++)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6A63BF-4635-4DA1-BC88-2CA9347FA2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096" y="3641246"/>
            <a:ext cx="5508650" cy="1028651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573CE1CD-256C-4C01-8718-EC2746079229}"/>
              </a:ext>
            </a:extLst>
          </p:cNvPr>
          <p:cNvSpPr/>
          <p:nvPr/>
        </p:nvSpPr>
        <p:spPr>
          <a:xfrm rot="16200000">
            <a:off x="8124254" y="663418"/>
            <a:ext cx="440335" cy="550865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A6FD49-5240-4CEB-ADAF-D2B0C8F7B42F}"/>
              </a:ext>
            </a:extLst>
          </p:cNvPr>
          <p:cNvSpPr txBox="1"/>
          <p:nvPr/>
        </p:nvSpPr>
        <p:spPr>
          <a:xfrm>
            <a:off x="7448839" y="2860099"/>
            <a:ext cx="179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_</a:t>
            </a:r>
            <a:r>
              <a:rPr lang="en-US" sz="1800" dirty="0" err="1"/>
              <a:t>packets_data</a:t>
            </a:r>
            <a:endParaRPr lang="de-DE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81B9382-D274-49D7-AEE1-4F2AB360C270}"/>
              </a:ext>
            </a:extLst>
          </p:cNvPr>
          <p:cNvSpPr txBox="1">
            <a:spLocks/>
          </p:cNvSpPr>
          <p:nvPr/>
        </p:nvSpPr>
        <p:spPr>
          <a:xfrm>
            <a:off x="1080586" y="1991853"/>
            <a:ext cx="10460038" cy="16861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400" dirty="0"/>
              <a:t> </a:t>
            </a:r>
            <a:r>
              <a:rPr lang="en-US" sz="2400" u="sng" dirty="0"/>
              <a:t>Handling Coding Window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Pointers indicating window’s lower and upper bounds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 err="1"/>
              <a:t>coding_window_start</a:t>
            </a:r>
            <a:endParaRPr lang="en-US" sz="20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000" dirty="0" err="1"/>
              <a:t>coding_window_end</a:t>
            </a:r>
            <a:r>
              <a:rPr lang="en-US" sz="20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70229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96410"/>
            <a:ext cx="10550025" cy="74304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Class Decoder (SW)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F7184F7-0444-44B9-8977-5500F3FAEB7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27938" y="1882694"/>
            <a:ext cx="10712663" cy="45843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Similar functionality and structures as BB decoder – Major difference: </a:t>
            </a:r>
            <a:r>
              <a:rPr lang="en-US" sz="2400" b="1" dirty="0"/>
              <a:t>how to handle the decoding window bounds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Input parameters: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200" b="1" dirty="0"/>
              <a:t>field</a:t>
            </a:r>
            <a:r>
              <a:rPr lang="en-US" sz="2200" dirty="0"/>
              <a:t>, </a:t>
            </a:r>
            <a:r>
              <a:rPr lang="en-US" sz="2200" b="1" dirty="0"/>
              <a:t>packets</a:t>
            </a:r>
            <a:r>
              <a:rPr lang="en-US" sz="2200" dirty="0"/>
              <a:t> and </a:t>
            </a:r>
            <a:r>
              <a:rPr lang="en-US" sz="2200" b="1" dirty="0" err="1"/>
              <a:t>packet_size_bytes</a:t>
            </a:r>
            <a:r>
              <a:rPr lang="en-US" sz="2200" b="1" dirty="0"/>
              <a:t>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200" b="1" dirty="0" err="1"/>
              <a:t>coding_depth</a:t>
            </a:r>
            <a:r>
              <a:rPr lang="en-US" sz="2200" b="1" dirty="0"/>
              <a:t> </a:t>
            </a:r>
            <a:r>
              <a:rPr lang="en-US" sz="2200" dirty="0"/>
              <a:t>and </a:t>
            </a:r>
            <a:r>
              <a:rPr lang="en-US" sz="2200" b="1" dirty="0" err="1"/>
              <a:t>source_per_cycle</a:t>
            </a:r>
            <a:r>
              <a:rPr lang="en-US" sz="2200" dirty="0"/>
              <a:t> (k) </a:t>
            </a:r>
            <a:r>
              <a:rPr lang="en-US" sz="2200" dirty="0">
                <a:sym typeface="Wingdings" panose="05000000000000000000" pitchFamily="2" charset="2"/>
              </a:rPr>
              <a:t> Coding Window W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sym typeface="Wingdings" panose="05000000000000000000" pitchFamily="2" charset="2"/>
              </a:rPr>
              <a:t>parameter </a:t>
            </a:r>
            <a:r>
              <a:rPr lang="en-US" sz="2200" b="1" dirty="0" err="1">
                <a:sym typeface="Wingdings" panose="05000000000000000000" pitchFamily="2" charset="2"/>
              </a:rPr>
              <a:t>decoding_depth</a:t>
            </a:r>
            <a:r>
              <a:rPr lang="en-US" sz="2200" b="1" dirty="0">
                <a:sym typeface="Wingdings" panose="05000000000000000000" pitchFamily="2" charset="2"/>
              </a:rPr>
              <a:t>: </a:t>
            </a:r>
            <a:r>
              <a:rPr lang="en-US" sz="2200" dirty="0">
                <a:sym typeface="Wingdings" panose="05000000000000000000" pitchFamily="2" charset="2"/>
              </a:rPr>
              <a:t>defines maximum allowed size of decoding window as a function of W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dirty="0">
                <a:sym typeface="Wingdings" panose="05000000000000000000" pitchFamily="2" charset="2"/>
              </a:rPr>
              <a:t>Assume </a:t>
            </a:r>
            <a:r>
              <a:rPr lang="en-US" dirty="0" err="1">
                <a:sym typeface="Wingdings" panose="05000000000000000000" pitchFamily="2" charset="2"/>
              </a:rPr>
              <a:t>coding_depth</a:t>
            </a:r>
            <a:r>
              <a:rPr lang="en-US" dirty="0">
                <a:sym typeface="Wingdings" panose="05000000000000000000" pitchFamily="2" charset="2"/>
              </a:rPr>
              <a:t> = </a:t>
            </a:r>
            <a:r>
              <a:rPr lang="en-US" dirty="0" err="1">
                <a:sym typeface="Wingdings" panose="05000000000000000000" pitchFamily="2" charset="2"/>
              </a:rPr>
              <a:t>decoding_depth</a:t>
            </a:r>
            <a:endParaRPr lang="en-US" dirty="0"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ym typeface="Wingdings" panose="05000000000000000000" pitchFamily="2" charset="2"/>
              </a:rPr>
              <a:t>Active decoding window accessed via pointers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200" dirty="0" err="1">
                <a:sym typeface="Wingdings" panose="05000000000000000000" pitchFamily="2" charset="2"/>
              </a:rPr>
              <a:t>min_index</a:t>
            </a:r>
            <a:r>
              <a:rPr lang="en-US" sz="2200" dirty="0">
                <a:sym typeface="Wingdings" panose="05000000000000000000" pitchFamily="2" charset="2"/>
              </a:rPr>
              <a:t>: lower decoding window bound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200" dirty="0" err="1">
                <a:sym typeface="Wingdings" panose="05000000000000000000" pitchFamily="2" charset="2"/>
              </a:rPr>
              <a:t>max_index</a:t>
            </a:r>
            <a:r>
              <a:rPr lang="en-US" sz="2200" dirty="0">
                <a:sym typeface="Wingdings" panose="05000000000000000000" pitchFamily="2" charset="2"/>
              </a:rPr>
              <a:t>: upper decoding window bound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499534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96410"/>
            <a:ext cx="10550025" cy="74304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SW Decoder – Main Methods (1/2)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F7184F7-0444-44B9-8977-5500F3FAEB7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27938" y="1839453"/>
            <a:ext cx="10427666" cy="45843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/>
              <a:t>decode_packet</a:t>
            </a:r>
            <a:r>
              <a:rPr lang="en-US" sz="2400" dirty="0"/>
              <a:t>(</a:t>
            </a:r>
            <a:r>
              <a:rPr lang="en-US" sz="2400" dirty="0" err="1"/>
              <a:t>packet_data</a:t>
            </a:r>
            <a:r>
              <a:rPr lang="en-US" sz="2400" dirty="0"/>
              <a:t>: </a:t>
            </a:r>
            <a:r>
              <a:rPr lang="en-US" sz="2400" dirty="0" err="1"/>
              <a:t>bytearray</a:t>
            </a:r>
            <a:r>
              <a:rPr lang="en-US" sz="2400" dirty="0"/>
              <a:t>, coefficients: </a:t>
            </a:r>
            <a:r>
              <a:rPr lang="en-US" sz="2400" dirty="0" err="1"/>
              <a:t>bytearray</a:t>
            </a:r>
            <a:r>
              <a:rPr lang="en-US" sz="2400" dirty="0"/>
              <a:t>, </a:t>
            </a:r>
            <a:r>
              <a:rPr lang="en-US" sz="2400" dirty="0" err="1"/>
              <a:t>window_bounds</a:t>
            </a:r>
            <a:r>
              <a:rPr lang="en-US" sz="2400" dirty="0"/>
              <a:t>: Tuple[</a:t>
            </a:r>
            <a:r>
              <a:rPr lang="en-US" sz="2400" dirty="0" err="1"/>
              <a:t>int,int</a:t>
            </a:r>
            <a:r>
              <a:rPr lang="en-US" sz="2400" dirty="0"/>
              <a:t>])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Feeds a coded packet (</a:t>
            </a:r>
            <a:r>
              <a:rPr lang="en-US" sz="2400" dirty="0" err="1"/>
              <a:t>packet_data</a:t>
            </a:r>
            <a:r>
              <a:rPr lang="en-US" sz="2400" dirty="0"/>
              <a:t>) and its encoding vector (coefficients) to the decoder – </a:t>
            </a:r>
            <a:r>
              <a:rPr lang="en-US" sz="2400" dirty="0" err="1"/>
              <a:t>window_bounds</a:t>
            </a:r>
            <a:r>
              <a:rPr lang="en-US" sz="2400" dirty="0"/>
              <a:t> refers to range of involved </a:t>
            </a:r>
            <a:r>
              <a:rPr lang="en-US" sz="2400" dirty="0" err="1"/>
              <a:t>src</a:t>
            </a:r>
            <a:r>
              <a:rPr lang="en-US" sz="2400" dirty="0"/>
              <a:t> packets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ym typeface="Wingdings" panose="05000000000000000000" pitchFamily="2" charset="2"/>
              </a:rPr>
              <a:t>Typical FS and BS (Heide et al.) - applied only on active decoding window [</a:t>
            </a:r>
            <a:r>
              <a:rPr lang="en-US" sz="2400" dirty="0" err="1">
                <a:sym typeface="Wingdings" panose="05000000000000000000" pitchFamily="2" charset="2"/>
              </a:rPr>
              <a:t>min_index</a:t>
            </a:r>
            <a:r>
              <a:rPr lang="en-US" sz="2400" dirty="0">
                <a:sym typeface="Wingdings" panose="05000000000000000000" pitchFamily="2" charset="2"/>
              </a:rPr>
              <a:t>, </a:t>
            </a:r>
            <a:r>
              <a:rPr lang="en-US" sz="2400" dirty="0" err="1">
                <a:sym typeface="Wingdings" panose="05000000000000000000" pitchFamily="2" charset="2"/>
              </a:rPr>
              <a:t>max_index</a:t>
            </a:r>
            <a:r>
              <a:rPr lang="en-US" sz="2400" dirty="0">
                <a:sym typeface="Wingdings" panose="05000000000000000000" pitchFamily="2" charset="2"/>
              </a:rPr>
              <a:t>]</a:t>
            </a:r>
            <a:endParaRPr lang="en-US" sz="2000" dirty="0">
              <a:sym typeface="Wingdings" panose="05000000000000000000" pitchFamily="2" charset="2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ym typeface="Wingdings" panose="05000000000000000000" pitchFamily="2" charset="2"/>
              </a:rPr>
              <a:t>Recovered packets CAN be available after decoding if in-order (unlike BB)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ym typeface="Wingdings" panose="05000000000000000000" pitchFamily="2" charset="2"/>
              </a:rPr>
              <a:t>Additional step: check if decoding window can slide!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0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81749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96410"/>
            <a:ext cx="10550025" cy="74304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SW Decoder – Main Methods (2/2)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F7184F7-0444-44B9-8977-5500F3FAEB7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27938" y="1882694"/>
            <a:ext cx="10712663" cy="48480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400" b="1" dirty="0" err="1"/>
              <a:t>decode_systematic_packet</a:t>
            </a:r>
            <a:r>
              <a:rPr lang="en-US" sz="2400" dirty="0"/>
              <a:t>(</a:t>
            </a:r>
            <a:r>
              <a:rPr lang="en-US" sz="2400" dirty="0" err="1"/>
              <a:t>packet_data</a:t>
            </a:r>
            <a:r>
              <a:rPr lang="en-US" sz="2400" dirty="0"/>
              <a:t>: </a:t>
            </a:r>
            <a:r>
              <a:rPr lang="en-US" sz="2400" dirty="0" err="1"/>
              <a:t>bytearray</a:t>
            </a:r>
            <a:r>
              <a:rPr lang="en-US" sz="2400" dirty="0"/>
              <a:t>, index: int)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 err="1"/>
              <a:t>Func</a:t>
            </a:r>
            <a:r>
              <a:rPr lang="en-US" sz="2400" dirty="0"/>
              <a:t> to process a source (systematic) packet (</a:t>
            </a:r>
            <a:r>
              <a:rPr lang="en-US" sz="2400" dirty="0" err="1"/>
              <a:t>symbol_data</a:t>
            </a:r>
            <a:r>
              <a:rPr lang="en-US" sz="2400" dirty="0"/>
              <a:t>) of a given id (index) at the decoder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Same principles as in BB approach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0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Additional step:</a:t>
            </a:r>
            <a:r>
              <a:rPr lang="en-US" sz="2400" dirty="0">
                <a:sym typeface="Wingdings" panose="05000000000000000000" pitchFamily="2" charset="2"/>
              </a:rPr>
              <a:t> update the decoding window bounds</a:t>
            </a:r>
          </a:p>
        </p:txBody>
      </p:sp>
    </p:spTree>
    <p:extLst>
      <p:ext uri="{BB962C8B-B14F-4D97-AF65-F5344CB8AC3E}">
        <p14:creationId xmlns:p14="http://schemas.microsoft.com/office/powerpoint/2010/main" val="2150841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04925"/>
            <a:ext cx="10550025" cy="83752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Outline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A5C85-8C05-C023-EA65-D7DB9907A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040902"/>
            <a:ext cx="10550025" cy="4463807"/>
          </a:xfrm>
        </p:spPr>
        <p:txBody>
          <a:bodyPr anchor="t"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Introduction to </a:t>
            </a:r>
            <a:r>
              <a:rPr lang="en-US" sz="2400" dirty="0" err="1"/>
              <a:t>PyErasure</a:t>
            </a:r>
            <a:r>
              <a:rPr lang="en-US" sz="2400" dirty="0"/>
              <a:t> library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Installation guide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Module structure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Source code overview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Helper classes analysis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Block-based approach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Sliding Window approach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/>
              <a:t>Working with test examples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Demos walk-through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Building a test scenario step-by-step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sz="2000" dirty="0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91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317"/>
    </mc:Choice>
    <mc:Fallback xmlns="">
      <p:transition spd="slow" advTm="39317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96410"/>
            <a:ext cx="10550025" cy="74304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Demo 1 – full_vector.py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A5C85-8C05-C023-EA65-D7DB9907A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7918" y="3498375"/>
            <a:ext cx="4624885" cy="667720"/>
          </a:xfrm>
        </p:spPr>
        <p:txBody>
          <a:bodyPr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Full-vector encoding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F5A40B-A989-425D-8F51-9C6AB6DED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999" y="1839453"/>
            <a:ext cx="3878343" cy="495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140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96410"/>
            <a:ext cx="10550025" cy="74304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Demo 2 – rlnc_encode_decode.py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A5C85-8C05-C023-EA65-D7DB9907A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4227" y="3345007"/>
            <a:ext cx="3774220" cy="1444876"/>
          </a:xfrm>
        </p:spPr>
        <p:txBody>
          <a:bodyPr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Systematic Block-based scheme over a lossy channel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B087EF-CE7F-434F-9677-BE2D8CB81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5" y="1839453"/>
            <a:ext cx="4076295" cy="47953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1879E5-B29D-4E6C-961D-20E116330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8597" y="1839453"/>
            <a:ext cx="4076295" cy="479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55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04925"/>
            <a:ext cx="10550025" cy="83752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Building a script step-by-step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A5C85-8C05-C023-EA65-D7DB9907A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040902"/>
            <a:ext cx="10739028" cy="467520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b="1" u="sng" dirty="0"/>
              <a:t>Main steps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Determine input parameters, e.g., packet size, GF, block size etc.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Define proper encoder/decoder/generator objects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Assign input data to encoder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Set up an error model (e.g., uniform or </a:t>
            </a:r>
            <a:r>
              <a:rPr lang="en-US" sz="2400" dirty="0" err="1"/>
              <a:t>bursty</a:t>
            </a:r>
            <a:r>
              <a:rPr lang="en-US" sz="2400" dirty="0"/>
              <a:t> losses)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Answer the following questions: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What type of packets should I send? Source, coded, both?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When should I send redundancy?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2000" dirty="0"/>
              <a:t>When will the simulation stop?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Calculate appropriate metrics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More examples in </a:t>
            </a:r>
            <a:r>
              <a:rPr lang="en-US" sz="2400" dirty="0" err="1"/>
              <a:t>sw</a:t>
            </a:r>
            <a:r>
              <a:rPr lang="en-US" sz="2400" dirty="0"/>
              <a:t> folder</a:t>
            </a:r>
            <a:endParaRPr lang="de-DE" sz="2400" dirty="0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317"/>
    </mc:Choice>
    <mc:Fallback xmlns="">
      <p:transition spd="slow" advTm="39317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4" y="1096410"/>
            <a:ext cx="10550025" cy="743043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Additional Notes</a:t>
            </a:r>
            <a:endParaRPr lang="el-GR" sz="40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A5C85-8C05-C023-EA65-D7DB9907A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2040902"/>
            <a:ext cx="10458887" cy="4817098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200" dirty="0"/>
              <a:t>Recoding also available in BB approach – not in SW!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2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chemeClr val="accent1">
                    <a:lumMod val="75000"/>
                  </a:schemeClr>
                </a:solidFill>
              </a:rPr>
              <a:t>DON’T</a:t>
            </a:r>
            <a:r>
              <a:rPr lang="en-US" sz="2200" dirty="0"/>
              <a:t> share this code publicly – protected by </a:t>
            </a:r>
            <a:r>
              <a:rPr lang="en-US" sz="2200" dirty="0" err="1"/>
              <a:t>Steinwurf’s</a:t>
            </a:r>
            <a:r>
              <a:rPr lang="en-US" sz="2200" dirty="0"/>
              <a:t> license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2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200" dirty="0"/>
              <a:t>Online Documentation: </a:t>
            </a:r>
            <a:r>
              <a:rPr lang="en-US" sz="2200" dirty="0">
                <a:hlinkClick r:id="rId3"/>
              </a:rPr>
              <a:t>https://pyerasure.steinwurf.com/1.3.0/</a:t>
            </a:r>
            <a:endParaRPr lang="en-US" sz="22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200" dirty="0"/>
              <a:t>Only for block-based implementation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2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200" dirty="0"/>
              <a:t>Contact me for any questions on the library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200" dirty="0"/>
              <a:t>Email: </a:t>
            </a:r>
            <a:r>
              <a:rPr lang="en-US" sz="2200" b="1" dirty="0"/>
              <a:t>fkaretsi@cse.uoi.gr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1584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78E23-D88F-0050-06AE-06344A8D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962" y="3057309"/>
            <a:ext cx="3584075" cy="743043"/>
          </a:xfrm>
        </p:spPr>
        <p:txBody>
          <a:bodyPr anchor="b">
            <a:noAutofit/>
          </a:bodyPr>
          <a:lstStyle/>
          <a:p>
            <a:r>
              <a:rPr lang="en-US" sz="4800" b="1" dirty="0"/>
              <a:t>Thank you!</a:t>
            </a:r>
            <a:endParaRPr lang="el-GR" sz="4800" b="1" dirty="0"/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3764" y="232542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2544" y="255471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8224" y="306986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148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55D59CDCC80745AC156EF2328E7930" ma:contentTypeVersion="0" ma:contentTypeDescription="Create a new document." ma:contentTypeScope="" ma:versionID="4486e7957de4469641f62fb04b2efe9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5bdcf26f133259999730471111e8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967F5D-8B96-4BF1-AECD-70F090F9DF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BD6ED6F-EB8E-4B4B-ACF7-4B66988F4E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97</TotalTime>
  <Words>1843</Words>
  <Application>Microsoft Office PowerPoint</Application>
  <PresentationFormat>Widescreen</PresentationFormat>
  <Paragraphs>279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Arial</vt:lpstr>
      <vt:lpstr>Book Antiqua</vt:lpstr>
      <vt:lpstr>Cambria Math</vt:lpstr>
      <vt:lpstr>Univers</vt:lpstr>
      <vt:lpstr>Wingdings</vt:lpstr>
      <vt:lpstr>GradientVTI</vt:lpstr>
      <vt:lpstr>PyErasure Tutorial</vt:lpstr>
      <vt:lpstr>Outline</vt:lpstr>
      <vt:lpstr>Outline</vt:lpstr>
      <vt:lpstr>What is PyErasure?</vt:lpstr>
      <vt:lpstr>PyErasure Setup</vt:lpstr>
      <vt:lpstr>Module Structure &amp; Extension</vt:lpstr>
      <vt:lpstr>Outline</vt:lpstr>
      <vt:lpstr>Source Code Overview</vt:lpstr>
      <vt:lpstr>Finite Field</vt:lpstr>
      <vt:lpstr>Class RandomUniform</vt:lpstr>
      <vt:lpstr>Class Encoder (Block-based)</vt:lpstr>
      <vt:lpstr>Class Decoder (Block-based)</vt:lpstr>
      <vt:lpstr>BB Decoder – Main Methods (1/2)</vt:lpstr>
      <vt:lpstr>BB Decoder – Main Methods (2/2)</vt:lpstr>
      <vt:lpstr>Sliding Window RLNC Fundamentals</vt:lpstr>
      <vt:lpstr>Class Encoder (SW) (1/3)</vt:lpstr>
      <vt:lpstr>Class Encoder (SW) (2/3)</vt:lpstr>
      <vt:lpstr>Class Encoder (SW) (3/3)</vt:lpstr>
      <vt:lpstr>Class Decoder (SW)</vt:lpstr>
      <vt:lpstr>SW Decoder – Main Methods (1/2)</vt:lpstr>
      <vt:lpstr>SW Decoder – Main Methods (2/2)</vt:lpstr>
      <vt:lpstr>Outline</vt:lpstr>
      <vt:lpstr>Demo 1 – full_vector.py</vt:lpstr>
      <vt:lpstr>Demo 2 – rlnc_encode_decode.py</vt:lpstr>
      <vt:lpstr>Building a script step-by-step</vt:lpstr>
      <vt:lpstr>Additional Notes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Foteini Karetsi</dc:creator>
  <cp:lastModifiedBy>FOTEINI KARETSI</cp:lastModifiedBy>
  <cp:revision>116</cp:revision>
  <dcterms:created xsi:type="dcterms:W3CDTF">2024-04-04T10:51:22Z</dcterms:created>
  <dcterms:modified xsi:type="dcterms:W3CDTF">2025-07-17T15:45:36Z</dcterms:modified>
</cp:coreProperties>
</file>